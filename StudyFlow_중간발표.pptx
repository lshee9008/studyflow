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5486400" cy="5486400"/>
          </a:xfrm>
          <a:prstGeom prst="ellipse">
            <a:avLst/>
          </a:prstGeom>
          <a:solidFill>
            <a:srgbClr val="00C9A7">
              <a:alpha val="8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274320"/>
            <a:ext cx="3200400" cy="3200400"/>
          </a:xfrm>
          <a:prstGeom prst="ellipse">
            <a:avLst/>
          </a:prstGeom>
          <a:solidFill>
            <a:srgbClr val="4FC3F7">
              <a:alpha val="10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A78BFA">
              <a:alpha val="7000"/>
            </a:srgbClr>
          </a:solidFill>
          <a:ln w="12700">
            <a:solidFill>
              <a:srgbClr val="A78BFA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73152" cy="18288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80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StudyFlow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스마트 학습 노트 플랫폼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32004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154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발표  |  2026.04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1193292" cy="347472"/>
          </a:xfrm>
          <a:prstGeom prst="rect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49040"/>
            <a:ext cx="1193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61972" y="3749040"/>
            <a:ext cx="1193292" cy="347472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61972" y="3749040"/>
            <a:ext cx="1193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92424" y="3749040"/>
            <a:ext cx="1613916" cy="347472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2424" y="3749040"/>
            <a:ext cx="16139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27B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43500" y="3749040"/>
            <a:ext cx="772668" cy="347472"/>
          </a:xfrm>
          <a:prstGeom prst="rect">
            <a:avLst/>
          </a:prstGeom>
          <a:solidFill>
            <a:srgbClr val="FCD34D">
              <a:alpha val="2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3500" y="3749040"/>
            <a:ext cx="7726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10312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학습 방식의 한계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StudyFlow  |  AI 기반 스마트 학습 노트 플랫폼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발표  |  2026.04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68680"/>
            <a:ext cx="4160520" cy="1737360"/>
          </a:xfrm>
          <a:prstGeom prst="rect">
            <a:avLst/>
          </a:prstGeom>
          <a:solidFill>
            <a:srgbClr val="152236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868680"/>
            <a:ext cx="54864" cy="17373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051560"/>
            <a:ext cx="502920" cy="502920"/>
          </a:xfrm>
          <a:prstGeom prst="ellipse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" y="1581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낭비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방대한 학습 자료를 수동으로 정리하는 데 많은 시간 소모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868680"/>
            <a:ext cx="4160520" cy="1737360"/>
          </a:xfrm>
          <a:prstGeom prst="rect">
            <a:avLst/>
          </a:prstGeom>
          <a:solidFill>
            <a:srgbClr val="152236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868680"/>
            <a:ext cx="54864" cy="17373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83480" y="1051560"/>
            <a:ext cx="502920" cy="502920"/>
          </a:xfrm>
          <a:prstGeom prst="ellipse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96128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937760" y="1581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수동적 노트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937760" y="1965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작성한 노트가 단순 보관에 그치며 능동적 학습 지원 부족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2788920"/>
            <a:ext cx="4160520" cy="1737360"/>
          </a:xfrm>
          <a:prstGeom prst="rect">
            <a:avLst/>
          </a:prstGeom>
          <a:solidFill>
            <a:srgbClr val="152236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788920"/>
            <a:ext cx="54864" cy="17373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2971800"/>
            <a:ext cx="502920" cy="502920"/>
          </a:xfrm>
          <a:prstGeom prst="ellipse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15568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3502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복습 효율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준비, 반복 학습에서 비효율적인 학습 경험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2788920"/>
            <a:ext cx="4160520" cy="1737360"/>
          </a:xfrm>
          <a:prstGeom prst="rect">
            <a:avLst/>
          </a:prstGeom>
          <a:solidFill>
            <a:srgbClr val="152236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788920"/>
            <a:ext cx="54864" cy="17373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83480" y="2971800"/>
            <a:ext cx="502920" cy="502920"/>
          </a:xfrm>
          <a:prstGeom prst="ellipse">
            <a:avLst/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96128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937760" y="35021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단절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937760" y="38862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분산된 자료로 인한 개념 간 연결 및 통합 어려움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StudyFlow가 제안하는 해법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StudyFlow  |  AI 기반 스마트 학습 노트 플랫폼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발표  |  2026.04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914400"/>
            <a:ext cx="548640" cy="384048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25603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C9A7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79392" y="301752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868680"/>
            <a:ext cx="3977640" cy="1783080"/>
          </a:xfrm>
          <a:prstGeom prst="rect">
            <a:avLst/>
          </a:prstGeom>
          <a:solidFill>
            <a:srgbClr val="152236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868680"/>
            <a:ext cx="54864" cy="17830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1051560"/>
            <a:ext cx="594360" cy="594360"/>
          </a:xfrm>
          <a:prstGeom prst="ellipse">
            <a:avLst/>
          </a:prstGeom>
          <a:solidFill>
            <a:srgbClr val="00C9A7">
              <a:alpha val="22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1148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분석·요약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11480" y="20574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노트를 분석해 핵심 개념을 자동으로 추출·구조화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83480" y="868680"/>
            <a:ext cx="3977640" cy="1783080"/>
          </a:xfrm>
          <a:prstGeom prst="rect">
            <a:avLst/>
          </a:prstGeom>
          <a:solidFill>
            <a:srgbClr val="152236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868680"/>
            <a:ext cx="54864" cy="17830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66360" y="1051560"/>
            <a:ext cx="594360" cy="594360"/>
          </a:xfrm>
          <a:prstGeom prst="ellipse">
            <a:avLst/>
          </a:prstGeom>
          <a:solidFill>
            <a:srgbClr val="4FC3F7">
              <a:alpha val="22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66360" y="16916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능동 학습 지원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66360" y="20574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플래시카드·퀴즈 자동 생성으로 시험 대비 효율 극대화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28600" y="2834640"/>
            <a:ext cx="3977640" cy="1783080"/>
          </a:xfrm>
          <a:prstGeom prst="rect">
            <a:avLst/>
          </a:prstGeom>
          <a:solidFill>
            <a:srgbClr val="152236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834640"/>
            <a:ext cx="54864" cy="1783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017520"/>
            <a:ext cx="594360" cy="59436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11480" y="3657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 기반 검색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11480" y="40233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임베딩 기반 시맨틱 검색으로 관련 지식 즉시 탐색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983480" y="2834640"/>
            <a:ext cx="3977640" cy="1783080"/>
          </a:xfrm>
          <a:prstGeom prst="rect">
            <a:avLst/>
          </a:prstGeom>
          <a:solidFill>
            <a:srgbClr val="152236"/>
          </a:solidFill>
          <a:ln w="254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83480" y="2834640"/>
            <a:ext cx="54864" cy="17830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66360" y="3017520"/>
            <a:ext cx="594360" cy="594360"/>
          </a:xfrm>
          <a:prstGeom prst="ellipse">
            <a:avLst/>
          </a:prstGeom>
          <a:solidFill>
            <a:srgbClr val="FCD34D">
              <a:alpha val="2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3017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166360" y="36576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그래프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166360" y="402336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간 관계를 시각화하여 구조적 학습 지원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 리치 텍스트 에디터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StudyFlow  |  AI 기반 스마트 학습 노트 플랫폼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발표  |  2026.04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68680"/>
            <a:ext cx="4572000" cy="896112"/>
          </a:xfrm>
          <a:prstGeom prst="rect">
            <a:avLst/>
          </a:prstGeom>
          <a:solidFill>
            <a:srgbClr val="152236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868680"/>
            <a:ext cx="54864" cy="8961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051560"/>
            <a:ext cx="502920" cy="50292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960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기반 편집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제목·목록·코드·체크박스·표 등 마크다운 기반 블록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874520"/>
            <a:ext cx="4572000" cy="896112"/>
          </a:xfrm>
          <a:prstGeom prst="rect">
            <a:avLst/>
          </a:prstGeom>
          <a:solidFill>
            <a:srgbClr val="152236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874520"/>
            <a:ext cx="54864" cy="8961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057400"/>
            <a:ext cx="502920" cy="50292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블록 분석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22860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텍스트 드래그 선택 시 실시간 컨텍스트 AI 분석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880360"/>
            <a:ext cx="4572000" cy="896112"/>
          </a:xfrm>
          <a:prstGeom prst="rect">
            <a:avLst/>
          </a:prstGeom>
          <a:solidFill>
            <a:srgbClr val="152236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80360"/>
            <a:ext cx="54864" cy="8961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63240"/>
            <a:ext cx="502920" cy="50292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78992" y="29718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크로스플랫폼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78992" y="32918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iOS / Android / Desktop 모든 플랫폼 지원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886200"/>
            <a:ext cx="4572000" cy="896112"/>
          </a:xfrm>
          <a:prstGeom prst="rect">
            <a:avLst/>
          </a:prstGeom>
          <a:solidFill>
            <a:srgbClr val="152236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886200"/>
            <a:ext cx="54864" cy="8961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069080"/>
            <a:ext cx="502920" cy="50292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🔡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78992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교정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78992" y="4297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학술/일상/공식 3가지 문체로 문법·스타일 교정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74920" y="868680"/>
            <a:ext cx="3749040" cy="393192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74920" y="868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에디터 미리보기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66360" y="1280160"/>
            <a:ext cx="3566160" cy="34290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66360" y="1280160"/>
            <a:ext cx="274320" cy="3429000"/>
          </a:xfrm>
          <a:prstGeom prst="rect">
            <a:avLst/>
          </a:prstGeom>
          <a:solidFill>
            <a:srgbClr val="0D1F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13533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학습 노트: 운영체제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66360" y="13533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86400" y="19933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프로세스 관리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166360" y="19933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86400" y="23134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프로세스: 실행 중인 프로그램의 인스턴스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66360" y="231343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86400" y="26334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PCB: 프로세스 상태 정보 저장 구조체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166360" y="26334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86400" y="29535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스케줄링: CPU 시간 할당 알고리즘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66360" y="29535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486400" y="35935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메모리 관리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166360" y="35935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86400" y="39136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가상 메모리: 물리 메모리 추상화 레이어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166360" y="391363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486400" y="42336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페이징: 고정 크기 블록 메모리 분할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166360" y="423367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9B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486400" y="2624328"/>
            <a:ext cx="2926080" cy="292608"/>
          </a:xfrm>
          <a:prstGeom prst="rect">
            <a:avLst/>
          </a:prstGeom>
          <a:solidFill>
            <a:srgbClr val="00C9A7">
              <a:alpha val="18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943600" y="2962656"/>
            <a:ext cx="2468880" cy="530352"/>
          </a:xfrm>
          <a:prstGeom prst="rect">
            <a:avLst/>
          </a:prstGeom>
          <a:solidFill>
            <a:srgbClr val="0A1628"/>
          </a:solidFill>
          <a:ln w="1905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943600" y="296265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분석 중...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7가지 AI 학습 지원 기능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StudyFlow  |  AI 기반 스마트 학습 노트 플랫폼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발표  |  2026.04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37160" y="886968"/>
            <a:ext cx="2011680" cy="1691640"/>
          </a:xfrm>
          <a:prstGeom prst="rect">
            <a:avLst/>
          </a:prstGeom>
          <a:solidFill>
            <a:srgbClr val="152236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37160" y="886968"/>
            <a:ext cx="54864" cy="1691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1024128"/>
            <a:ext cx="594360" cy="594360"/>
          </a:xfrm>
          <a:prstGeom prst="ellipse">
            <a:avLst/>
          </a:prstGeom>
          <a:solidFill>
            <a:srgbClr val="00C9A7">
              <a:alpha val="22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1024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860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요약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2860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개념·상세 내용·중요 포인트 구조화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23160" y="886968"/>
            <a:ext cx="2011680" cy="1691640"/>
          </a:xfrm>
          <a:prstGeom prst="rect">
            <a:avLst/>
          </a:prstGeom>
          <a:solidFill>
            <a:srgbClr val="152236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23160" y="886968"/>
            <a:ext cx="54864" cy="1691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36392" y="1024128"/>
            <a:ext cx="594360" cy="594360"/>
          </a:xfrm>
          <a:prstGeom prst="ellipse">
            <a:avLst/>
          </a:prstGeom>
          <a:solidFill>
            <a:srgbClr val="4FC3F7">
              <a:alpha val="22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36392" y="1024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51460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 생성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51460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시험 대비 플래시카드 스타일 요약표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09160" y="886968"/>
            <a:ext cx="2011680" cy="1691640"/>
          </a:xfrm>
          <a:prstGeom prst="rect">
            <a:avLst/>
          </a:prstGeom>
          <a:solidFill>
            <a:srgbClr val="152236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886968"/>
            <a:ext cx="54864" cy="1691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22392" y="1024128"/>
            <a:ext cx="594360" cy="59436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22392" y="1024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80060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퀴즈 생성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0060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객관식 문제 및 해설 자동 생성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95160" y="886968"/>
            <a:ext cx="2011680" cy="1691640"/>
          </a:xfrm>
          <a:prstGeom prst="rect">
            <a:avLst/>
          </a:prstGeom>
          <a:solidFill>
            <a:srgbClr val="152236"/>
          </a:solidFill>
          <a:ln w="254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995160" y="886968"/>
            <a:ext cx="54864" cy="16916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08392" y="1024128"/>
            <a:ext cx="594360" cy="594360"/>
          </a:xfrm>
          <a:prstGeom prst="ellipse">
            <a:avLst/>
          </a:prstGeom>
          <a:solidFill>
            <a:srgbClr val="FCD34D">
              <a:alpha val="2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08392" y="1024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86600" y="16916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어시스턴트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8660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+ 웹 검색으로 정확한 답변 제공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234440" y="2715768"/>
            <a:ext cx="2011680" cy="1691640"/>
          </a:xfrm>
          <a:prstGeom prst="rect">
            <a:avLst/>
          </a:prstGeom>
          <a:solidFill>
            <a:srgbClr val="152236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234440" y="2715768"/>
            <a:ext cx="54864" cy="16916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47672" y="2852928"/>
            <a:ext cx="594360" cy="594360"/>
          </a:xfrm>
          <a:prstGeom prst="ellipse">
            <a:avLst/>
          </a:prstGeom>
          <a:solidFill>
            <a:srgbClr val="00C9A7">
              <a:alpha val="22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47672" y="28529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🔬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325880" y="3520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 분석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32588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선택 텍스트 실시간 컨텍스트 분석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566160" y="2715768"/>
            <a:ext cx="2011680" cy="1691640"/>
          </a:xfrm>
          <a:prstGeom prst="rect">
            <a:avLst/>
          </a:prstGeom>
          <a:solidFill>
            <a:srgbClr val="152236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566160" y="2715768"/>
            <a:ext cx="54864" cy="16916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279392" y="2852928"/>
            <a:ext cx="594360" cy="594360"/>
          </a:xfrm>
          <a:prstGeom prst="ellipse">
            <a:avLst/>
          </a:prstGeom>
          <a:solidFill>
            <a:srgbClr val="4FC3F7">
              <a:alpha val="22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79392" y="28529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✏️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657600" y="3520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문장 교정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65760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문체 스타일 문법 교정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897880" y="2715768"/>
            <a:ext cx="2011680" cy="1691640"/>
          </a:xfrm>
          <a:prstGeom prst="rect">
            <a:avLst/>
          </a:prstGeom>
          <a:solidFill>
            <a:srgbClr val="152236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5897880" y="2715768"/>
            <a:ext cx="54864" cy="1691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11112" y="2852928"/>
            <a:ext cx="594360" cy="59436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11112" y="28529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🕸️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5989320" y="3520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지식 그래프</a:t>
            </a:r>
            <a:endParaRPr lang="en-US" sz="1250" dirty="0"/>
          </a:p>
        </p:txBody>
      </p:sp>
      <p:sp>
        <p:nvSpPr>
          <p:cNvPr id="51" name="Text 49"/>
          <p:cNvSpPr/>
          <p:nvPr/>
        </p:nvSpPr>
        <p:spPr>
          <a:xfrm>
            <a:off x="5989320" y="3886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개념 간 관계 마인드맵 생성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의미 기반 스마트 검색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StudyFlow  |  AI 기반 스마트 학습 노트 플랫폼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발표  |  2026.04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86968"/>
            <a:ext cx="4389120" cy="896112"/>
          </a:xfrm>
          <a:prstGeom prst="rect">
            <a:avLst/>
          </a:prstGeom>
          <a:solidFill>
            <a:srgbClr val="152236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886968"/>
            <a:ext cx="54864" cy="89611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1069848"/>
            <a:ext cx="502920" cy="502920"/>
          </a:xfrm>
          <a:prstGeom prst="ellipse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069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🧬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8992" y="978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시맨틱 검색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1316736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 임베딩 기반 의미 유사도 검색으로 의도에 맞는 결과 반환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892808"/>
            <a:ext cx="4389120" cy="896112"/>
          </a:xfrm>
          <a:prstGeom prst="rect">
            <a:avLst/>
          </a:prstGeom>
          <a:solidFill>
            <a:srgbClr val="152236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892808"/>
            <a:ext cx="54864" cy="89611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075688"/>
            <a:ext cx="502920" cy="50292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🔑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78992" y="19842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 검색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78992" y="2322576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전통적 풀텍스트 검색 폴백 지원으로 정확한 단어 매칭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2898648"/>
            <a:ext cx="4389120" cy="896112"/>
          </a:xfrm>
          <a:prstGeom prst="rect">
            <a:avLst/>
          </a:prstGeom>
          <a:solidFill>
            <a:srgbClr val="152236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898648"/>
            <a:ext cx="54864" cy="89611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081528"/>
            <a:ext cx="502920" cy="50292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081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78992" y="29900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관련도 스코어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78992" y="3328416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검색 결과에 유사도 점수 표시, 신뢰도 확인 가능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904488"/>
            <a:ext cx="4389120" cy="896112"/>
          </a:xfrm>
          <a:prstGeom prst="rect">
            <a:avLst/>
          </a:prstGeom>
          <a:solidFill>
            <a:srgbClr val="152236"/>
          </a:solidFill>
          <a:ln w="254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904488"/>
            <a:ext cx="54864" cy="89611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087368"/>
            <a:ext cx="502920" cy="502920"/>
          </a:xfrm>
          <a:prstGeom prst="ellipse">
            <a:avLst/>
          </a:prstGeom>
          <a:solidFill>
            <a:srgbClr val="FCD34D">
              <a:alpha val="2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0873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78992" y="39959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RAG 인덱싱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78992" y="4334256"/>
            <a:ext cx="33832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저장 시 벡터 인덱스 자동 갱신으로 최신 상태 유지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0" y="886968"/>
            <a:ext cx="3886200" cy="3913632"/>
          </a:xfrm>
          <a:prstGeom prst="rect">
            <a:avLst/>
          </a:prstGeom>
          <a:solidFill>
            <a:srgbClr val="15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937760" y="8869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UI 미리보기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120640" y="1298448"/>
            <a:ext cx="3520440" cy="411480"/>
          </a:xfrm>
          <a:prstGeom prst="rect">
            <a:avLst/>
          </a:prstGeom>
          <a:solidFill>
            <a:srgbClr val="0A1628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20640" y="129844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운영체제 프로세스 스케줄링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120640" y="1801368"/>
            <a:ext cx="1645920" cy="2926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20640" y="18013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시맨틱 검색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858000" y="1801368"/>
            <a:ext cx="1645920" cy="292608"/>
          </a:xfrm>
          <a:prstGeom prst="rect">
            <a:avLst/>
          </a:prstGeom>
          <a:solidFill>
            <a:srgbClr val="15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180136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 검색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120640" y="2212848"/>
            <a:ext cx="35204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120640" y="2212848"/>
            <a:ext cx="45720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276088" y="22585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- 프로세스 개요.md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76088" y="2514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유사도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26480" y="2542032"/>
            <a:ext cx="182880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2542032"/>
            <a:ext cx="1792224" cy="1280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0" y="2487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120640" y="2898648"/>
            <a:ext cx="35204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120640" y="2898648"/>
            <a:ext cx="45720" cy="56692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76088" y="29443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스케줄링 알고리즘.md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76088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유사도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126480" y="3227832"/>
            <a:ext cx="182880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26480" y="3227832"/>
            <a:ext cx="1591056" cy="12801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46720" y="31729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120640" y="3584448"/>
            <a:ext cx="35204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120640" y="3584448"/>
            <a:ext cx="45720" cy="56692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76088" y="36301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관리와 가상화.md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276088" y="3886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유사도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126480" y="3913632"/>
            <a:ext cx="182880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26480" y="3913632"/>
            <a:ext cx="1353312" cy="12801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46720" y="38587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120640" y="4270248"/>
            <a:ext cx="3520440" cy="56692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120640" y="4270248"/>
            <a:ext cx="45720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76088" y="431596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교착 상태(Deadlock).md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5276088" y="45720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유사도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126480" y="4599432"/>
            <a:ext cx="1828800" cy="12801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26480" y="4599432"/>
            <a:ext cx="1115568" cy="1280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46720" y="4544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아키텍처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StudyFlow  |  AI 기반 스마트 학습 노트 플랫폼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발표  |  2026.04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914400"/>
            <a:ext cx="8595360" cy="987552"/>
          </a:xfrm>
          <a:prstGeom prst="rect">
            <a:avLst/>
          </a:prstGeom>
          <a:solidFill>
            <a:srgbClr val="152236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914400"/>
            <a:ext cx="1234440" cy="987552"/>
          </a:xfrm>
          <a:prstGeom prst="rect">
            <a:avLst/>
          </a:prstGeom>
          <a:solidFill>
            <a:srgbClr val="4FC3F7">
              <a:alpha val="3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914400"/>
            <a:ext cx="1234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91640" y="1024128"/>
            <a:ext cx="16916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10241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(Web / iOS / Android / Desktop)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20440" y="1024128"/>
            <a:ext cx="16916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10241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상태관리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49240" y="1024128"/>
            <a:ext cx="16916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0" y="10241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Text Editor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78040" y="1024128"/>
            <a:ext cx="16916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4FC3F7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10241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Design 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389120" y="1901952"/>
            <a:ext cx="365760" cy="1554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1865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BB5"/>
                </a:solidFill>
              </a:rPr>
              <a:t>▼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057400"/>
            <a:ext cx="8595360" cy="987552"/>
          </a:xfrm>
          <a:prstGeom prst="rect">
            <a:avLst/>
          </a:prstGeom>
          <a:solidFill>
            <a:srgbClr val="152236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057400"/>
            <a:ext cx="1234440" cy="987552"/>
          </a:xfrm>
          <a:prstGeom prst="rect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057400"/>
            <a:ext cx="1234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691640" y="2167128"/>
            <a:ext cx="16916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37360" y="21671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520440" y="2167128"/>
            <a:ext cx="16916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21671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SQLModel ORM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349240" y="2167128"/>
            <a:ext cx="16916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94960" y="21671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78040" y="2167128"/>
            <a:ext cx="16916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23760" y="21671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0" y="3044952"/>
            <a:ext cx="365760" cy="1554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0" y="30083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BB5"/>
                </a:solidFill>
              </a:rPr>
              <a:t>▼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3200400"/>
            <a:ext cx="8595360" cy="987552"/>
          </a:xfrm>
          <a:prstGeom prst="rect">
            <a:avLst/>
          </a:prstGeom>
          <a:solidFill>
            <a:srgbClr val="152236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3200400"/>
            <a:ext cx="1234440" cy="987552"/>
          </a:xfrm>
          <a:prstGeom prst="rect">
            <a:avLst/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200400"/>
            <a:ext cx="12344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691640" y="3310128"/>
            <a:ext cx="16916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37360" y="33101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Gemma 3 27B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520440" y="3310128"/>
            <a:ext cx="16916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6160" y="33101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Embeddings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349240" y="3310128"/>
            <a:ext cx="16916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0" y="33101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벡터스토어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178040" y="3310128"/>
            <a:ext cx="1691640" cy="749808"/>
          </a:xfrm>
          <a:prstGeom prst="rect">
            <a:avLst/>
          </a:prstGeom>
          <a:solidFill>
            <a:srgbClr val="0A1628"/>
          </a:solidFill>
          <a:ln w="12700">
            <a:solidFill>
              <a:srgbClr val="A78BFA">
                <a:alpha val="4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23760" y="3310128"/>
            <a:ext cx="1600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74320" y="4270248"/>
            <a:ext cx="8595360" cy="50292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27024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API 엔드포인트: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011680" y="4361688"/>
            <a:ext cx="1252728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11680" y="4361688"/>
            <a:ext cx="1252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/api/users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401568" y="4361688"/>
            <a:ext cx="1252728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401568" y="4361688"/>
            <a:ext cx="1252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/api/projects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791456" y="4361688"/>
            <a:ext cx="1252728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91456" y="4361688"/>
            <a:ext cx="1252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/api/files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181344" y="4361688"/>
            <a:ext cx="1252728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81344" y="4361688"/>
            <a:ext cx="1252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/api/ai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571232" y="4361688"/>
            <a:ext cx="1252728" cy="301752"/>
          </a:xfrm>
          <a:prstGeom prst="rect">
            <a:avLst/>
          </a:prstGeom>
          <a:solidFill>
            <a:srgbClr val="0A1628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71232" y="4361688"/>
            <a:ext cx="12527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/api/search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개발 진행 현황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StudyFlow  |  AI 기반 스마트 학습 노트 플랫폼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발표  |  2026.04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886968"/>
            <a:ext cx="4160520" cy="3886200"/>
          </a:xfrm>
          <a:prstGeom prst="rect">
            <a:avLst/>
          </a:prstGeom>
          <a:solidFill>
            <a:srgbClr val="152236"/>
          </a:solidFill>
          <a:ln w="25400">
            <a:solidFill>
              <a:srgbClr val="4ADE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886968"/>
            <a:ext cx="54864" cy="38862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완료된 기능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1463040"/>
            <a:ext cx="274320" cy="274320"/>
          </a:xfrm>
          <a:prstGeom prst="ellipse">
            <a:avLst/>
          </a:prstGeom>
          <a:solidFill>
            <a:srgbClr val="4ADE80">
              <a:alpha val="3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453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</a:rPr>
              <a:t>✓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141732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크로스플랫폼 리치 텍스트 에디터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084832"/>
            <a:ext cx="274320" cy="274320"/>
          </a:xfrm>
          <a:prstGeom prst="ellipse">
            <a:avLst/>
          </a:prstGeom>
          <a:solidFill>
            <a:srgbClr val="4ADE80">
              <a:alpha val="3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075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</a:rPr>
              <a:t>✓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14400" y="203911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7가지 AI 기능 전체 구현 (요약/메모/퀴즈/Q&amp;A/분석/교정/그래프)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706624"/>
            <a:ext cx="274320" cy="274320"/>
          </a:xfrm>
          <a:prstGeom prst="ellipse">
            <a:avLst/>
          </a:prstGeom>
          <a:solidFill>
            <a:srgbClr val="4ADE80">
              <a:alpha val="3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</a:rPr>
              <a:t>✓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266090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시맨틱 + 키워드 이중 검색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328416"/>
            <a:ext cx="274320" cy="274320"/>
          </a:xfrm>
          <a:prstGeom prst="ellipse">
            <a:avLst/>
          </a:prstGeom>
          <a:solidFill>
            <a:srgbClr val="4ADE80">
              <a:alpha val="3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3192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</a:rPr>
              <a:t>✓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14400" y="328269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 프로젝트 관리 및 파일 CRUD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3950208"/>
            <a:ext cx="274320" cy="274320"/>
          </a:xfrm>
          <a:prstGeom prst="ellipse">
            <a:avLst/>
          </a:prstGeom>
          <a:solidFill>
            <a:srgbClr val="4ADE80">
              <a:alpha val="3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941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DE80"/>
                </a:solidFill>
              </a:rPr>
              <a:t>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390448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인증 및 계정 관리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886968"/>
            <a:ext cx="4160520" cy="2926080"/>
          </a:xfrm>
          <a:prstGeom prst="rect">
            <a:avLst/>
          </a:prstGeom>
          <a:solidFill>
            <a:srgbClr val="152236"/>
          </a:solidFill>
          <a:ln w="25400">
            <a:solidFill>
              <a:srgbClr val="FBBF2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886968"/>
            <a:ext cx="54864" cy="292608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9144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진행 중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37760" y="1463040"/>
            <a:ext cx="274320" cy="274320"/>
          </a:xfrm>
          <a:prstGeom prst="ellipse">
            <a:avLst/>
          </a:prstGeom>
          <a:solidFill>
            <a:srgbClr val="FBBF24">
              <a:alpha val="3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1453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</a:rPr>
              <a:t>…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9240" y="14173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에디터 안정성 및 크로스플랫폼 호환성 향상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2121408"/>
            <a:ext cx="274320" cy="274320"/>
          </a:xfrm>
          <a:prstGeom prst="ellipse">
            <a:avLst/>
          </a:prstGeom>
          <a:solidFill>
            <a:srgbClr val="FBBF24">
              <a:alpha val="3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2112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</a:rPr>
              <a:t>…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49240" y="20756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분석 트리거 최적화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937760" y="2779776"/>
            <a:ext cx="274320" cy="274320"/>
          </a:xfrm>
          <a:prstGeom prst="ellipse">
            <a:avLst/>
          </a:prstGeom>
          <a:solidFill>
            <a:srgbClr val="FBBF24">
              <a:alpha val="3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BBF24"/>
                </a:solidFill>
              </a:rPr>
              <a:t>…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49240" y="273405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개선 및 성능 튜닝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09160" y="3950208"/>
            <a:ext cx="4160520" cy="73152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0060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진행률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38160" y="39776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800600" y="4315968"/>
            <a:ext cx="393192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4315968"/>
            <a:ext cx="2830982" cy="2011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658368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9728"/>
            <a:ext cx="54864" cy="5029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개발 계획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0" y="713232"/>
            <a:ext cx="9144000" cy="1828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StudyFlow  |  AI 기반 스마트 학습 노트 플랫폼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0" y="496519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중간 발표  |  2026.04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8046720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960120"/>
            <a:ext cx="1508760" cy="1920240"/>
          </a:xfrm>
          <a:prstGeom prst="rect">
            <a:avLst/>
          </a:prstGeom>
          <a:solidFill>
            <a:srgbClr val="152236"/>
          </a:solidFill>
          <a:ln w="25400">
            <a:solidFill>
              <a:srgbClr val="4FC3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960120"/>
            <a:ext cx="54864" cy="19202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960120"/>
            <a:ext cx="1508760" cy="347472"/>
          </a:xfrm>
          <a:prstGeom prst="rect">
            <a:avLst/>
          </a:prstGeom>
          <a:solidFill>
            <a:srgbClr val="4FC3F7">
              <a:alpha val="28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960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298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48640" y="1920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 기능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3500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공유 및 실시간 공동 편집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147572" y="2907792"/>
            <a:ext cx="219456" cy="219456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48156" y="2880360"/>
            <a:ext cx="18288" cy="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4560" y="960120"/>
            <a:ext cx="1508760" cy="1920240"/>
          </a:xfrm>
          <a:prstGeom prst="rect">
            <a:avLst/>
          </a:prstGeom>
          <a:solidFill>
            <a:srgbClr val="152236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194560" y="960120"/>
            <a:ext cx="54864" cy="1920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94560" y="960120"/>
            <a:ext cx="1508760" cy="347472"/>
          </a:xfrm>
          <a:prstGeom prst="rect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960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7462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240280" y="1920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분석 대시보드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40280" y="23500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패턴 분석 및 개인화 추천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39212" y="2907792"/>
            <a:ext cx="219456" cy="21945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39796" y="2880360"/>
            <a:ext cx="18288" cy="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86200" y="960120"/>
            <a:ext cx="1508760" cy="1920240"/>
          </a:xfrm>
          <a:prstGeom prst="rect">
            <a:avLst/>
          </a:prstGeom>
          <a:solidFill>
            <a:srgbClr val="152236"/>
          </a:solidFill>
          <a:ln w="254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86200" y="960120"/>
            <a:ext cx="54864" cy="19202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86200" y="960120"/>
            <a:ext cx="1508760" cy="347472"/>
          </a:xfrm>
          <a:prstGeom prst="rect">
            <a:avLst/>
          </a:prstGeom>
          <a:solidFill>
            <a:srgbClr val="A78BFA">
              <a:alpha val="28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86200" y="960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36626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3931920" y="1920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 복습 알림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931920" y="23500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망각 곡선 기반 복습 스케줄링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30852" y="2907792"/>
            <a:ext cx="219456" cy="21945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31436" y="2880360"/>
            <a:ext cx="18288" cy="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77840" y="960120"/>
            <a:ext cx="1508760" cy="1920240"/>
          </a:xfrm>
          <a:prstGeom prst="rect">
            <a:avLst/>
          </a:prstGeom>
          <a:solidFill>
            <a:srgbClr val="152236"/>
          </a:solidFill>
          <a:ln w="254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577840" y="960120"/>
            <a:ext cx="54864" cy="19202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77840" y="960120"/>
            <a:ext cx="1508760" cy="347472"/>
          </a:xfrm>
          <a:prstGeom prst="rect">
            <a:avLst/>
          </a:prstGeom>
          <a:solidFill>
            <a:srgbClr val="FCD34D">
              <a:alpha val="28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7840" y="960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05790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623560" y="1920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서비스 연동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23560" y="23500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/ Google Drive / Obsidian 등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222492" y="2907792"/>
            <a:ext cx="219456" cy="219456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23076" y="2880360"/>
            <a:ext cx="18288" cy="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69480" y="960120"/>
            <a:ext cx="1508760" cy="1920240"/>
          </a:xfrm>
          <a:prstGeom prst="rect">
            <a:avLst/>
          </a:prstGeom>
          <a:solidFill>
            <a:srgbClr val="152236"/>
          </a:solidFill>
          <a:ln w="25400">
            <a:solidFill>
              <a:srgbClr val="00C9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269480" y="960120"/>
            <a:ext cx="54864" cy="19202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269480" y="960120"/>
            <a:ext cx="1508760" cy="347472"/>
          </a:xfrm>
          <a:prstGeom prst="rect">
            <a:avLst/>
          </a:prstGeom>
          <a:solidFill>
            <a:srgbClr val="00C9A7">
              <a:alpha val="28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69480" y="96012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v2.1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749540" y="1371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7315200" y="19202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 모드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315200" y="235000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모바일 오프라인 기능 강화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914132" y="2907792"/>
            <a:ext cx="219456" cy="21945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14716" y="2880360"/>
            <a:ext cx="18288" cy="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목표 (2026)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943600" y="3154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중장기 목표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0C9A7">
              <a:alpha val="7000"/>
            </a:srgbClr>
          </a:solidFill>
          <a:ln w="12700">
            <a:solidFill>
              <a:srgbClr val="00C9A7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188720"/>
            <a:ext cx="6400800" cy="2834640"/>
          </a:xfrm>
          <a:prstGeom prst="rect">
            <a:avLst/>
          </a:prstGeom>
          <a:solidFill>
            <a:srgbClr val="152236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188720"/>
            <a:ext cx="64008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325880"/>
            <a:ext cx="731520" cy="7315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1031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StudyFlow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1371600" y="29077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AI와 함께하는 더 스마트한 학습 경험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3200400" y="3456432"/>
            <a:ext cx="274320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0" y="41148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1193292" y="3931920"/>
            <a:ext cx="1330452" cy="274320"/>
          </a:xfrm>
          <a:prstGeom prst="rect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93292" y="3931920"/>
            <a:ext cx="1330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633472" y="3931920"/>
            <a:ext cx="1330452" cy="274320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33472" y="3931920"/>
            <a:ext cx="13304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073652" y="3931920"/>
            <a:ext cx="1751076" cy="274320"/>
          </a:xfrm>
          <a:prstGeom prst="rect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73652" y="3931920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27B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934456" y="3931920"/>
            <a:ext cx="909828" cy="274320"/>
          </a:xfrm>
          <a:prstGeom prst="rect">
            <a:avLst/>
          </a:prstGeom>
          <a:solidFill>
            <a:srgbClr val="FCD34D">
              <a:alpha val="20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34456" y="3931920"/>
            <a:ext cx="9098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954012" y="3931920"/>
            <a:ext cx="1435608" cy="274320"/>
          </a:xfrm>
          <a:prstGeom prst="rect">
            <a:avLst/>
          </a:prstGeom>
          <a:solidFill>
            <a:srgbClr val="00C9A7">
              <a:alpha val="2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54012" y="3931920"/>
            <a:ext cx="1435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152236"/>
          </a:solidFill>
          <a:ln w="12700">
            <a:solidFill>
              <a:srgbClr val="15223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StudyFlow 중간 발표</dc:title>
  <dc:subject>PptxGenJS Presentation</dc:subject>
  <dc:creator>PptxGenJS</dc:creator>
  <cp:lastModifiedBy>PptxGenJS</cp:lastModifiedBy>
  <cp:revision>1</cp:revision>
  <dcterms:created xsi:type="dcterms:W3CDTF">2026-04-14T04:35:50Z</dcterms:created>
  <dcterms:modified xsi:type="dcterms:W3CDTF">2026-04-14T04:35:50Z</dcterms:modified>
</cp:coreProperties>
</file>